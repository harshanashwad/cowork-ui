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Revenue by Region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Revenue ($M)</c:v>
                </c:pt>
              </c:strCache>
            </c:strRef>
          </c:tx>
          <c:spPr>
            <a:solidFill>
              <a:srgbClr val="6B86B8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</c:v>
                </c:pt>
                <c:pt idx="1">
                  <c:v>4.1</c:v>
                </c:pt>
                <c:pt idx="2">
                  <c:v>3.9</c:v>
                </c:pt>
                <c:pt idx="3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Revenue ($M)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4.6</c:v>
                </c:pt>
                <c:pt idx="2">
                  <c:v>4.1</c:v>
                </c:pt>
                <c:pt idx="3">
                  <c:v>5.9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A3F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7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8C93A6"/>
            </a:solidFill>
          </a:ln>
        </c:spPr>
        <c:txPr>
          <a:bodyPr/>
          <a:lstStyle/>
          <a:p>
            <a:pPr>
              <a:defRPr sz="1100">
                <a:solidFill>
                  <a:srgbClr val="8C93A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3A3F4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Q3 Revenue by Product Category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Revenue Share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6B86B8"/>
              </a:solidFill>
            </c:spPr>
          </c:dPt>
          <c:dPt>
            <c:idx val="2"/>
            <c:spPr>
              <a:solidFill>
                <a:srgbClr val="C99A3E"/>
              </a:solidFill>
            </c:spPr>
          </c:dPt>
          <c:dPt>
            <c:idx val="3"/>
            <c:spPr>
              <a:solidFill>
                <a:srgbClr val="CADCFC"/>
              </a:solidFill>
            </c:spPr>
          </c:dPt>
          <c:dPt>
            <c:idx val="4"/>
            <c:spPr>
              <a:solidFill>
                <a:srgbClr val="8C93A6"/>
              </a:solidFill>
            </c:spPr>
          </c:dPt>
          <c:cat>
            <c:strRef>
              <c:f>Sheet1!$A$2:$A$6</c:f>
              <c:strCache>
                <c:ptCount val="5"/>
                <c:pt idx="0">
                  <c:v>Industrial Equipment</c:v>
                </c:pt>
                <c:pt idx="1">
                  <c:v>Safety Supplies</c:v>
                </c:pt>
                <c:pt idx="2">
                  <c:v>Maintenance Parts</c:v>
                </c:pt>
                <c:pt idx="3">
                  <c:v>Packaging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22</c:v>
                </c:pt>
                <c:pt idx="2">
                  <c:v>19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>
              <a:solidFill>
                <a:srgbClr val="3A3F4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FFFFFF"/>
                </a:solidFill>
                <a:latin typeface="Cambria"/>
              </a:rPr>
              <a:t>Meridian Supply Co.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ADCFC"/>
                </a:solidFill>
                <a:latin typeface="Calibri"/>
              </a:rPr>
              <a:t>Q3 Business Review — Fiscal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Executive Summary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Company Overview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Quarterly Revenue by Region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Product &amp; Category Performance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Team Update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Customer Highlights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Risks &amp; Challenges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Next Quarter Priorities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Budget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Q3 revenue reached $18.4M, up 6.2% quarter-over-quarter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Gross margin held steady at 41%, in line with target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West region led growth with a 14% increase in new accounts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Customer retention improved to 92%, up from 89% in Q2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Operating expenses remained within budget across all departments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4552" cy="822960"/>
          </a:xfrm>
        </p:spPr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Company Overview</a:t>
            </a:r>
          </a:p>
        </p:txBody>
      </p:sp>
      <p:pic>
        <p:nvPicPr>
          <p:cNvPr id="3" name="Picture Placeholder 2" descr="office_building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670" r="9670"/>
          <a:stretch>
            <a:fillRect/>
          </a:stretch>
        </p:blipFill>
        <p:spPr>
          <a:xfrm>
            <a:off x="548640" y="1371600"/>
            <a:ext cx="5212080" cy="484632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6035040" y="1371600"/>
            <a:ext cx="5669280" cy="4846320"/>
          </a:xfrm>
        </p:spPr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Founded in 2011; headquartered in Denver, CO with regional offices in Atlanta, Chicago, and Seattle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Approximately 640 employees across sales, operations, and support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Serves mid-market and enterprise customers in the industrial supply sector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Core offerings: wholesale distribution, inventory management, and logistics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Quarterly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Product &amp; Category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74552" cy="822960"/>
          </a:xfrm>
        </p:spPr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Team Update</a:t>
            </a:r>
          </a:p>
        </p:txBody>
      </p:sp>
      <p:pic>
        <p:nvPicPr>
          <p:cNvPr id="3" name="Picture Placeholder 2" descr="team_illustration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358" r="12358"/>
          <a:stretch>
            <a:fillRect/>
          </a:stretch>
        </p:blipFill>
        <p:spPr>
          <a:xfrm>
            <a:off x="548640" y="1371600"/>
            <a:ext cx="5212080" cy="484632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6035040" y="1371600"/>
            <a:ext cx="5669280" cy="4846320"/>
          </a:xfrm>
        </p:spPr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Hired 18 new employees in Q3, primarily in Sales and Customer Support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Launched a new onboarding program, reducing ramp-up time by 20%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Promoted 6 team members into senior and lead roles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Employee engagement score rose to 78%, up 4 points from Q2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Customer Highlights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932688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2194560"/>
                <a:gridCol w="1645920"/>
              </a:tblGrid>
              <a:tr h="905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Contract Value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Atlas Manufacturing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Industrial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$1.2M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Renewed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Briarwood Logistics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Transportation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$850K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Expanded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Coastal Retail Group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$640K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9051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Summit Health Systems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Healthcare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$970K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Renewed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Risks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Rising freight costs continue to pressure margins in the East region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Key supplier lead times remain extended, averaging 6 weeks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Increased competition from regional distributors in the South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Talent shortages in skilled warehouse roles persist in two markets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Next Quarter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Expand West region sales team by 8 additional headcount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Launch updated customer self-service portal in October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Negotiate renewed terms with top three freight carriers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Roll out new inventory forecasting tool company-wide</a:t>
            </a:r>
          </a:p>
          <a:p>
            <a:pPr/>
            <a:r>
              <a:rPr sz="1800">
                <a:solidFill>
                  <a:srgbClr val="3A3F4A"/>
                </a:solidFill>
                <a:latin typeface="Calibri"/>
              </a:rPr>
              <a:t>Complete Q4 budget planning and departmental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761"/>
                </a:solidFill>
                <a:latin typeface="Cambria"/>
              </a:rPr>
              <a:t>Budget &amp;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932688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3657600"/>
              </a:tblGrid>
              <a:tr h="905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Q3 Actual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Q4 Budget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T="76200" marB="76200">
                    <a:solidFill>
                      <a:srgbClr val="1E2761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$2.1M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Increased ad spend for Q4 campaign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Operations &amp; Logistics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$3.6M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$3.5M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Freight contract renegotiation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</a:tr>
              <a:tr h="9051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$980K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$1.3M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Portal launch and forecasting tool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90519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G&amp;A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$1.4M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$1.4M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F4A"/>
                          </a:solidFill>
                          <a:latin typeface="Calibri"/>
                        </a:rPr>
                        <a:t>Flat, no major changes</a:t>
                      </a:r>
                    </a:p>
                  </a:txBody>
                  <a:tcPr marT="76200" marB="76200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00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CADCFC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